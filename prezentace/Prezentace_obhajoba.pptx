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4" r:id="rId13"/>
  </p:sldIdLst>
  <p:sldSz cx="10080625" cy="5670550"/>
  <p:notesSz cx="7559675" cy="106918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ška Vavřichová (3ITA)" userId="e4159210-d60d-42cd-8219-0f656e31d89e" providerId="ADAL" clId="{60878736-76DC-465D-831C-968C3236D2FB}"/>
    <pc:docChg chg="custSel modSld">
      <pc:chgData name="Eliška Vavřichová (3ITA)" userId="e4159210-d60d-42cd-8219-0f656e31d89e" providerId="ADAL" clId="{60878736-76DC-465D-831C-968C3236D2FB}" dt="2026-01-13T19:23:19.538" v="179" actId="207"/>
      <pc:docMkLst>
        <pc:docMk/>
      </pc:docMkLst>
      <pc:sldChg chg="modSp mod">
        <pc:chgData name="Eliška Vavřichová (3ITA)" userId="e4159210-d60d-42cd-8219-0f656e31d89e" providerId="ADAL" clId="{60878736-76DC-465D-831C-968C3236D2FB}" dt="2026-01-13T19:20:11.199" v="1" actId="27636"/>
        <pc:sldMkLst>
          <pc:docMk/>
          <pc:sldMk cId="0" sldId="257"/>
        </pc:sldMkLst>
        <pc:spChg chg="mod">
          <ac:chgData name="Eliška Vavřichová (3ITA)" userId="e4159210-d60d-42cd-8219-0f656e31d89e" providerId="ADAL" clId="{60878736-76DC-465D-831C-968C3236D2FB}" dt="2026-01-13T19:20:11.199" v="1" actId="27636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Eliška Vavřichová (3ITA)" userId="e4159210-d60d-42cd-8219-0f656e31d89e" providerId="ADAL" clId="{60878736-76DC-465D-831C-968C3236D2FB}" dt="2026-01-13T19:20:11.208" v="2" actId="27636"/>
        <pc:sldMkLst>
          <pc:docMk/>
          <pc:sldMk cId="0" sldId="258"/>
        </pc:sldMkLst>
        <pc:spChg chg="mod">
          <ac:chgData name="Eliška Vavřichová (3ITA)" userId="e4159210-d60d-42cd-8219-0f656e31d89e" providerId="ADAL" clId="{60878736-76DC-465D-831C-968C3236D2FB}" dt="2026-01-13T19:20:11.208" v="2" actId="27636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Eliška Vavřichová (3ITA)" userId="e4159210-d60d-42cd-8219-0f656e31d89e" providerId="ADAL" clId="{60878736-76DC-465D-831C-968C3236D2FB}" dt="2026-01-13T19:20:11.225" v="3" actId="27636"/>
        <pc:sldMkLst>
          <pc:docMk/>
          <pc:sldMk cId="0" sldId="259"/>
        </pc:sldMkLst>
        <pc:spChg chg="mod">
          <ac:chgData name="Eliška Vavřichová (3ITA)" userId="e4159210-d60d-42cd-8219-0f656e31d89e" providerId="ADAL" clId="{60878736-76DC-465D-831C-968C3236D2FB}" dt="2026-01-13T19:20:11.225" v="3" actId="27636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Eliška Vavřichová (3ITA)" userId="e4159210-d60d-42cd-8219-0f656e31d89e" providerId="ADAL" clId="{60878736-76DC-465D-831C-968C3236D2FB}" dt="2026-01-13T19:20:11.182" v="0" actId="27636"/>
        <pc:sldMkLst>
          <pc:docMk/>
          <pc:sldMk cId="0" sldId="263"/>
        </pc:sldMkLst>
        <pc:spChg chg="mod">
          <ac:chgData name="Eliška Vavřichová (3ITA)" userId="e4159210-d60d-42cd-8219-0f656e31d89e" providerId="ADAL" clId="{60878736-76DC-465D-831C-968C3236D2FB}" dt="2026-01-13T19:20:11.182" v="0" actId="27636"/>
          <ac:spMkLst>
            <pc:docMk/>
            <pc:sldMk cId="0" sldId="263"/>
            <ac:spMk id="49" creationId="{00000000-0000-0000-0000-000000000000}"/>
          </ac:spMkLst>
        </pc:spChg>
      </pc:sldChg>
      <pc:sldChg chg="addSp modSp mod">
        <pc:chgData name="Eliška Vavřichová (3ITA)" userId="e4159210-d60d-42cd-8219-0f656e31d89e" providerId="ADAL" clId="{60878736-76DC-465D-831C-968C3236D2FB}" dt="2026-01-13T19:23:19.538" v="179" actId="207"/>
        <pc:sldMkLst>
          <pc:docMk/>
          <pc:sldMk cId="0" sldId="264"/>
        </pc:sldMkLst>
        <pc:spChg chg="add mod ord">
          <ac:chgData name="Eliška Vavřichová (3ITA)" userId="e4159210-d60d-42cd-8219-0f656e31d89e" providerId="ADAL" clId="{60878736-76DC-465D-831C-968C3236D2FB}" dt="2026-01-13T19:23:19.538" v="179" actId="207"/>
          <ac:spMkLst>
            <pc:docMk/>
            <pc:sldMk cId="0" sldId="264"/>
            <ac:spMk id="2" creationId="{CE313FDB-DF79-1BDB-5BEB-EC91184A97E6}"/>
          </ac:spMkLst>
        </pc:spChg>
        <pc:spChg chg="mod">
          <ac:chgData name="Eliška Vavřichová (3ITA)" userId="e4159210-d60d-42cd-8219-0f656e31d89e" providerId="ADAL" clId="{60878736-76DC-465D-831C-968C3236D2FB}" dt="2026-01-13T19:22:54.899" v="66" actId="1076"/>
          <ac:spMkLst>
            <pc:docMk/>
            <pc:sldMk cId="0" sldId="264"/>
            <ac:spMk id="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noAutofit/>
          </a:bodyPr>
          <a:lstStyle/>
          <a:p>
            <a:pPr algn="ctr"/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Klikněte pro přesun snímku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cs-CZ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Klikněte pro úpravu formátu komentářů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&lt;záhlaví&gt;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&lt;datum/čas&gt;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&lt;zápatí&gt;</a:t>
            </a:r>
          </a:p>
        </p:txBody>
      </p:sp>
      <p:sp>
        <p:nvSpPr>
          <p:cNvPr id="1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84E3AD4-3B9C-4B08-BB3B-DA3A40BEB965}" type="slidenum">
              <a: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cs-C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cs-CZ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Klikněte pro vložení poznámek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ýchoz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Kliknutím lze upravit styl.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Kliknutím můžete upravit styl předlohy.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cs-CZ"/>
              <a:t>Eliška Vavřichová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EDDB30B-17BC-4D1A-A8A5-54DE3F876DD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FE4E576-7370-42BC-9D69-4686E5445081}" type="datetime1">
              <a:rPr lang="cs-CZ" smtClean="0"/>
              <a:t>28.06.2026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Výchoz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Kliknutím lze upravit styl.</a:t>
            </a: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cs-CZ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 kliknutí můžete upravovat styly textu v předloze.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cs-CZ"/>
              <a:t>Eliška Vavřichová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ED5A550-3245-4BE2-8E3D-8AF68998DAE4}" type="datetime1">
              <a:rPr lang="cs-CZ" smtClean="0"/>
              <a:t>28.06.2026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Klikněte pro úpravu formátu textu nadpisu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cs-CZ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Klikněte pro úpravu formátu textu osnovy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Druhá úroveň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Třetí úroveň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Čtvrtá úroveň osnovy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Pátá úroveň osnovy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Šestá úroveň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Sedmá úroveň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fld id="{9A62C959-8FD1-4AFC-A374-9F62BE850A92}" type="datetime1">
              <a:rPr lang="cs-CZ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28.06.2026</a:t>
            </a:fld>
            <a:endParaRPr lang="cs-C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Eliška Vavřichová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260DAE-8B31-4A91-A9C5-489B99AC22C4}" type="slidenum">
              <a:rPr lang="cs-C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cs-C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ál 16"/>
          <p:cNvSpPr/>
          <p:nvPr/>
        </p:nvSpPr>
        <p:spPr>
          <a:xfrm>
            <a:off x="721800" y="-135360"/>
            <a:ext cx="8636400" cy="8636400"/>
          </a:xfrm>
          <a:prstGeom prst="ellipse">
            <a:avLst/>
          </a:prstGeom>
          <a:solidFill>
            <a:srgbClr val="111111"/>
          </a:solidFill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cs-CZ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Ovál 17"/>
          <p:cNvSpPr/>
          <p:nvPr/>
        </p:nvSpPr>
        <p:spPr>
          <a:xfrm>
            <a:off x="900000" y="-138960"/>
            <a:ext cx="8280000" cy="8280000"/>
          </a:xfrm>
          <a:prstGeom prst="ellipse">
            <a:avLst/>
          </a:prstGeom>
          <a:solidFill>
            <a:srgbClr val="111111"/>
          </a:solidFill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cs-CZ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480" y="1899582"/>
            <a:ext cx="10031400" cy="1107996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8000" b="0" u="none" strike="noStrike" dirty="0">
                <a:solidFill>
                  <a:srgbClr val="FFFFFF"/>
                </a:solidFill>
                <a:effectLst/>
                <a:uFillTx/>
                <a:latin typeface="Copperplate Gothic Bold"/>
              </a:rPr>
              <a:t>Planet</a:t>
            </a:r>
            <a:r>
              <a:rPr lang="en-GB" sz="8000" b="0" u="none" strike="noStrike" dirty="0">
                <a:solidFill>
                  <a:srgbClr val="FFFFFF"/>
                </a:solidFill>
                <a:effectLst/>
                <a:uFillTx/>
                <a:latin typeface="Copperplate Gothic Bold"/>
              </a:rPr>
              <a:t> </a:t>
            </a:r>
            <a:r>
              <a:rPr lang="en-GB" sz="8000" dirty="0">
                <a:solidFill>
                  <a:srgbClr val="FFFFFF"/>
                </a:solidFill>
                <a:latin typeface="Copperplate Gothic Bold"/>
              </a:rPr>
              <a:t>Zero</a:t>
            </a:r>
            <a:endParaRPr lang="cs-CZ" sz="8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E9B29D0E-56EC-3A6C-2FB2-BAED6C527CC3}"/>
              </a:ext>
            </a:extLst>
          </p:cNvPr>
          <p:cNvGrpSpPr/>
          <p:nvPr/>
        </p:nvGrpSpPr>
        <p:grpSpPr>
          <a:xfrm>
            <a:off x="1981397" y="5089561"/>
            <a:ext cx="6117206" cy="323165"/>
            <a:chOff x="2301042" y="5089561"/>
            <a:chExt cx="6117206" cy="323165"/>
          </a:xfrm>
        </p:grpSpPr>
        <p:sp>
          <p:nvSpPr>
            <p:cNvPr id="2" name="TextovéPole 1">
              <a:extLst>
                <a:ext uri="{FF2B5EF4-FFF2-40B4-BE49-F238E27FC236}">
                  <a16:creationId xmlns:a16="http://schemas.microsoft.com/office/drawing/2014/main" id="{70856659-3FED-D3D0-4DE2-72704B8A9C62}"/>
                </a:ext>
              </a:extLst>
            </p:cNvPr>
            <p:cNvSpPr txBox="1"/>
            <p:nvPr/>
          </p:nvSpPr>
          <p:spPr>
            <a:xfrm>
              <a:off x="2301042" y="5089561"/>
              <a:ext cx="26276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500" dirty="0" err="1">
                  <a:solidFill>
                    <a:schemeClr val="bg1"/>
                  </a:solidFill>
                </a:rPr>
                <a:t>Vedoucí</a:t>
              </a:r>
              <a:r>
                <a:rPr lang="en-GB" sz="1500" dirty="0">
                  <a:solidFill>
                    <a:schemeClr val="bg1"/>
                  </a:solidFill>
                </a:rPr>
                <a:t> </a:t>
              </a:r>
              <a:r>
                <a:rPr lang="en-GB" sz="1500" dirty="0" err="1">
                  <a:solidFill>
                    <a:schemeClr val="bg1"/>
                  </a:solidFill>
                </a:rPr>
                <a:t>práce</a:t>
              </a:r>
              <a:r>
                <a:rPr lang="en-GB" sz="1500" dirty="0">
                  <a:solidFill>
                    <a:schemeClr val="bg1"/>
                  </a:solidFill>
                </a:rPr>
                <a:t>: Tomáš Ulrich</a:t>
              </a:r>
              <a:endParaRPr lang="cs-CZ" sz="1500" dirty="0">
                <a:solidFill>
                  <a:schemeClr val="bg1"/>
                </a:solidFill>
              </a:endParaRPr>
            </a:p>
          </p:txBody>
        </p:sp>
        <p:sp>
          <p:nvSpPr>
            <p:cNvPr id="3" name="TextovéPole 2">
              <a:extLst>
                <a:ext uri="{FF2B5EF4-FFF2-40B4-BE49-F238E27FC236}">
                  <a16:creationId xmlns:a16="http://schemas.microsoft.com/office/drawing/2014/main" id="{47C2EFC3-C3B3-220D-0009-078BD375BFB2}"/>
                </a:ext>
              </a:extLst>
            </p:cNvPr>
            <p:cNvSpPr txBox="1"/>
            <p:nvPr/>
          </p:nvSpPr>
          <p:spPr>
            <a:xfrm>
              <a:off x="5790608" y="5089561"/>
              <a:ext cx="262764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500" dirty="0">
                  <a:solidFill>
                    <a:schemeClr val="bg1"/>
                  </a:solidFill>
                </a:rPr>
                <a:t>Eliška Vavřichová 3ITA</a:t>
              </a:r>
              <a:endParaRPr lang="cs-CZ" sz="15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Noto Sans Georgian Bold"/>
              </a:rPr>
              <a:t>Představení</a:t>
            </a:r>
            <a:endParaRPr lang="cs-CZ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ovéPole 23"/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  <p:sp>
        <p:nvSpPr>
          <p:cNvPr id="7" name="Kruh: dutý 6">
            <a:extLst>
              <a:ext uri="{FF2B5EF4-FFF2-40B4-BE49-F238E27FC236}">
                <a16:creationId xmlns:a16="http://schemas.microsoft.com/office/drawing/2014/main" id="{E67034A4-014E-6B16-58AD-6DC797B5FF72}"/>
              </a:ext>
            </a:extLst>
          </p:cNvPr>
          <p:cNvSpPr>
            <a:spLocks noChangeAspect="1"/>
          </p:cNvSpPr>
          <p:nvPr/>
        </p:nvSpPr>
        <p:spPr>
          <a:xfrm>
            <a:off x="7830085" y="3644470"/>
            <a:ext cx="3600000" cy="3600000"/>
          </a:xfrm>
          <a:prstGeom prst="donut">
            <a:avLst/>
          </a:prstGeom>
          <a:noFill/>
          <a:ln w="63500">
            <a:gradFill>
              <a:gsLst>
                <a:gs pos="10000">
                  <a:schemeClr val="tx1"/>
                </a:gs>
                <a:gs pos="35000">
                  <a:srgbClr val="002060"/>
                </a:gs>
                <a:gs pos="64000">
                  <a:srgbClr val="00B0F0"/>
                </a:gs>
                <a:gs pos="90000">
                  <a:schemeClr val="bg1"/>
                </a:gs>
              </a:gsLst>
              <a:lin ang="189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15456B3-AAED-E979-DEAD-8091E390B63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rPr lang="cs-CZ" smtClean="0"/>
              <a:t>2</a:t>
            </a:fld>
            <a:endParaRPr lang="cs-CZ" dirty="0"/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729270" y="1815557"/>
            <a:ext cx="9071640" cy="270668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Webová aplikace pro nezávislé herní tituly</a:t>
            </a:r>
          </a:p>
          <a:p>
            <a:endParaRPr lang="cs-CZ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Distribuce, nahrávání a stahování ZIP archivů </a:t>
            </a:r>
          </a:p>
          <a:p>
            <a:endParaRPr lang="cs-CZ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Cílové skupiny: Nezávislí vývojáři a kreativní komunita hráčů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cs-CZ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Noto Sans Georgian Bold"/>
              </a:rPr>
              <a:t>Motivace</a:t>
            </a:r>
            <a:endParaRPr lang="cs-CZ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691820"/>
            <a:ext cx="9071640" cy="366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Dlouhodobý zájem o webový vývoj a moderní technologie</a:t>
            </a:r>
          </a:p>
          <a:p>
            <a:endParaRPr lang="cs-CZ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Spojení logiky s kreativním grafickým rozhraním</a:t>
            </a:r>
          </a:p>
          <a:p>
            <a:endParaRPr lang="cs-CZ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cs-CZ" sz="2800" dirty="0"/>
              <a:t>Zvláštní</a:t>
            </a:r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 důraz na </a:t>
            </a:r>
            <a:r>
              <a:rPr lang="cs-CZ" sz="2600" dirty="0" err="1">
                <a:solidFill>
                  <a:srgbClr val="000000"/>
                </a:solidFill>
                <a:latin typeface="Bahnschrift" panose="020B0502040204020203" pitchFamily="34" charset="0"/>
              </a:rPr>
              <a:t>frontendovou</a:t>
            </a:r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 prezentaci a využití CSS</a:t>
            </a:r>
          </a:p>
        </p:txBody>
      </p:sp>
      <p:sp>
        <p:nvSpPr>
          <p:cNvPr id="6" name="Kruh: dutý 5">
            <a:extLst>
              <a:ext uri="{FF2B5EF4-FFF2-40B4-BE49-F238E27FC236}">
                <a16:creationId xmlns:a16="http://schemas.microsoft.com/office/drawing/2014/main" id="{38F6CA6E-5BC2-1FBD-5AA9-4B2EF5917D4D}"/>
              </a:ext>
            </a:extLst>
          </p:cNvPr>
          <p:cNvSpPr>
            <a:spLocks noChangeAspect="1"/>
          </p:cNvSpPr>
          <p:nvPr/>
        </p:nvSpPr>
        <p:spPr>
          <a:xfrm>
            <a:off x="7830085" y="3644470"/>
            <a:ext cx="3600000" cy="3600000"/>
          </a:xfrm>
          <a:prstGeom prst="donut">
            <a:avLst/>
          </a:prstGeom>
          <a:noFill/>
          <a:ln w="63500">
            <a:gradFill>
              <a:gsLst>
                <a:gs pos="10000">
                  <a:schemeClr val="tx1"/>
                </a:gs>
                <a:gs pos="35000">
                  <a:srgbClr val="002060"/>
                </a:gs>
                <a:gs pos="64000">
                  <a:srgbClr val="00B0F0"/>
                </a:gs>
                <a:gs pos="9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89B5753-B27A-F563-6EB1-4B112569FB6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rPr lang="cs-CZ" smtClean="0"/>
              <a:t>3</a:t>
            </a:fld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62E6C4FA-EB40-C4F1-7680-8563519A2B08}"/>
              </a:ext>
            </a:extLst>
          </p:cNvPr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Noto Sans Georgian Bold"/>
              </a:rPr>
              <a:t>Cíle</a:t>
            </a:r>
            <a:endParaRPr lang="cs-CZ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69919" y="1508248"/>
            <a:ext cx="9630991" cy="18004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432000"/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Návrh a realizace stabilní třívrstvé architektury</a:t>
            </a:r>
          </a:p>
          <a:p>
            <a:pPr marL="432000"/>
            <a:endParaRPr lang="cs-CZ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32000"/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Bezpečné ukládání uživatelských dat a šifrování hesel</a:t>
            </a:r>
          </a:p>
          <a:p>
            <a:pPr marL="432000"/>
            <a:endParaRPr lang="cs-CZ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32000"/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Integrace externích rozhraní (Google </a:t>
            </a:r>
            <a:r>
              <a:rPr lang="cs-CZ" sz="2600" dirty="0" err="1">
                <a:solidFill>
                  <a:srgbClr val="000000"/>
                </a:solidFill>
                <a:latin typeface="Bahnschrift" panose="020B0502040204020203" pitchFamily="34" charset="0"/>
              </a:rPr>
              <a:t>Gemini</a:t>
            </a:r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 API, </a:t>
            </a:r>
            <a:r>
              <a:rPr lang="cs-CZ" sz="2600" dirty="0" err="1">
                <a:solidFill>
                  <a:srgbClr val="000000"/>
                </a:solidFill>
                <a:latin typeface="Bahnschrift" panose="020B0502040204020203" pitchFamily="34" charset="0"/>
              </a:rPr>
              <a:t>Nodemailer</a:t>
            </a:r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4" name="Kruh: dutý 3">
            <a:extLst>
              <a:ext uri="{FF2B5EF4-FFF2-40B4-BE49-F238E27FC236}">
                <a16:creationId xmlns:a16="http://schemas.microsoft.com/office/drawing/2014/main" id="{BCE0F35E-C5B9-21BA-759D-C48FE27BDFF5}"/>
              </a:ext>
            </a:extLst>
          </p:cNvPr>
          <p:cNvSpPr>
            <a:spLocks noChangeAspect="1"/>
          </p:cNvSpPr>
          <p:nvPr/>
        </p:nvSpPr>
        <p:spPr>
          <a:xfrm>
            <a:off x="7830085" y="3644470"/>
            <a:ext cx="3600000" cy="3600000"/>
          </a:xfrm>
          <a:prstGeom prst="donut">
            <a:avLst/>
          </a:prstGeom>
          <a:noFill/>
          <a:ln w="63500">
            <a:gradFill>
              <a:gsLst>
                <a:gs pos="10000">
                  <a:schemeClr val="tx1"/>
                </a:gs>
                <a:gs pos="35000">
                  <a:srgbClr val="002060"/>
                </a:gs>
                <a:gs pos="64000">
                  <a:srgbClr val="00B0F0"/>
                </a:gs>
                <a:gs pos="90000">
                  <a:schemeClr val="bg1"/>
                </a:gs>
              </a:gsLst>
              <a:lin ang="81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95A6CBA-8F22-D2BA-3DA0-5E5936BB806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rPr lang="cs-CZ" smtClean="0"/>
              <a:t>4</a:t>
            </a:fld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340D9D9-BB08-EF3A-C3E6-CF0B40257697}"/>
              </a:ext>
            </a:extLst>
          </p:cNvPr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 dirty="0">
                <a:solidFill>
                  <a:srgbClr val="000000"/>
                </a:solidFill>
                <a:effectLst/>
                <a:uFillTx/>
                <a:latin typeface="Noto Sans Georgian Bold"/>
              </a:rPr>
              <a:t>Technologie</a:t>
            </a:r>
            <a:endParaRPr lang="cs-CZ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8553657-2124-A837-E17F-309DBA94F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33" y="1197172"/>
            <a:ext cx="3690910" cy="178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5D126A2-0258-1705-C79C-9C2FF6C10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5" y="3228042"/>
            <a:ext cx="1359209" cy="129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A002251-CD09-C142-B035-570AED510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337" y="3419901"/>
            <a:ext cx="1714294" cy="105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0E073D4-057C-989A-01DE-96C8FDDBD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224" y="2982054"/>
            <a:ext cx="1784882" cy="178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F384B6B-807E-B8ED-C055-DEE3D5BA9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106" y="1570864"/>
            <a:ext cx="1142284" cy="114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137BD914-FBEA-5207-DA02-053DBD232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284" y="1504315"/>
            <a:ext cx="1275381" cy="1275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Kruh: dutý 1">
            <a:extLst>
              <a:ext uri="{FF2B5EF4-FFF2-40B4-BE49-F238E27FC236}">
                <a16:creationId xmlns:a16="http://schemas.microsoft.com/office/drawing/2014/main" id="{48D3E3FE-AD2C-EFA7-5B06-13D88FF95A03}"/>
              </a:ext>
            </a:extLst>
          </p:cNvPr>
          <p:cNvSpPr>
            <a:spLocks noChangeAspect="1"/>
          </p:cNvSpPr>
          <p:nvPr/>
        </p:nvSpPr>
        <p:spPr>
          <a:xfrm>
            <a:off x="7830000" y="3644470"/>
            <a:ext cx="3600000" cy="3600000"/>
          </a:xfrm>
          <a:prstGeom prst="donut">
            <a:avLst/>
          </a:prstGeom>
          <a:noFill/>
          <a:ln w="63500">
            <a:gradFill>
              <a:gsLst>
                <a:gs pos="10000">
                  <a:srgbClr val="C00000"/>
                </a:gs>
                <a:gs pos="35000">
                  <a:srgbClr val="002060"/>
                </a:gs>
                <a:gs pos="65000">
                  <a:srgbClr val="00B0F0"/>
                </a:gs>
                <a:gs pos="90000">
                  <a:schemeClr val="bg1"/>
                </a:gs>
              </a:gsLst>
              <a:lin ang="135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C8E6B4E-A1B5-3DC1-C0A3-44C231F467E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rPr lang="cs-CZ" smtClean="0"/>
              <a:t>5</a:t>
            </a:fld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E363D22F-7109-EB2E-A944-A5B495BED355}"/>
              </a:ext>
            </a:extLst>
          </p:cNvPr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  <p:pic>
        <p:nvPicPr>
          <p:cNvPr id="5" name="Obrázek 4" descr="18 Cute cat memes ideas | cute cat memes, cat memes, cute cat">
            <a:extLst>
              <a:ext uri="{FF2B5EF4-FFF2-40B4-BE49-F238E27FC236}">
                <a16:creationId xmlns:a16="http://schemas.microsoft.com/office/drawing/2014/main" id="{778D6793-AC08-3045-217D-267FC763FB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5168" y="4459625"/>
            <a:ext cx="1210925" cy="1210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58445" y="1657315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 dirty="0">
                <a:solidFill>
                  <a:srgbClr val="000000"/>
                </a:solidFill>
                <a:effectLst/>
                <a:uFillTx/>
                <a:latin typeface="Noto Sans Georgian Bold"/>
              </a:rPr>
              <a:t>Praktická ukázka</a:t>
            </a:r>
            <a:endParaRPr lang="cs-CZ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1804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endParaRPr lang="cs-CZ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lang="cs-CZ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lang="cs-CZ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Kruh: dutý 1">
            <a:extLst>
              <a:ext uri="{FF2B5EF4-FFF2-40B4-BE49-F238E27FC236}">
                <a16:creationId xmlns:a16="http://schemas.microsoft.com/office/drawing/2014/main" id="{298AD1B5-96E6-1C99-A3B5-A7793A828AFB}"/>
              </a:ext>
            </a:extLst>
          </p:cNvPr>
          <p:cNvSpPr>
            <a:spLocks noChangeAspect="1"/>
          </p:cNvSpPr>
          <p:nvPr/>
        </p:nvSpPr>
        <p:spPr>
          <a:xfrm>
            <a:off x="7830085" y="3644470"/>
            <a:ext cx="3600000" cy="3600000"/>
          </a:xfrm>
          <a:prstGeom prst="donut">
            <a:avLst/>
          </a:prstGeom>
          <a:noFill/>
          <a:ln w="63500">
            <a:gradFill>
              <a:gsLst>
                <a:gs pos="10000">
                  <a:srgbClr val="C00000"/>
                </a:gs>
                <a:gs pos="35000">
                  <a:srgbClr val="002060"/>
                </a:gs>
                <a:gs pos="65000">
                  <a:srgbClr val="00B0F0"/>
                </a:gs>
                <a:gs pos="90000">
                  <a:schemeClr val="bg1"/>
                </a:gs>
              </a:gsLst>
              <a:lin ang="189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0AF139F-7304-411D-5F94-2202955A7B1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rPr lang="cs-CZ" smtClean="0"/>
              <a:t>6</a:t>
            </a:fld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47D320F-2EF1-8BB5-202D-397680FA1F04}"/>
              </a:ext>
            </a:extLst>
          </p:cNvPr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  <p:pic>
        <p:nvPicPr>
          <p:cNvPr id="7" name="Grafický objekt 6" descr="Motýl se souvislou výplní">
            <a:extLst>
              <a:ext uri="{FF2B5EF4-FFF2-40B4-BE49-F238E27FC236}">
                <a16:creationId xmlns:a16="http://schemas.microsoft.com/office/drawing/2014/main" id="{F3528C0A-27B4-6E1E-DBC9-13E15E1D0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20808">
            <a:off x="7418370" y="1707533"/>
            <a:ext cx="482567" cy="482567"/>
          </a:xfrm>
          <a:prstGeom prst="rect">
            <a:avLst/>
          </a:prstGeom>
        </p:spPr>
      </p:pic>
      <p:pic>
        <p:nvPicPr>
          <p:cNvPr id="8" name="Grafický objekt 7" descr="Motýl se souvislou výplní">
            <a:extLst>
              <a:ext uri="{FF2B5EF4-FFF2-40B4-BE49-F238E27FC236}">
                <a16:creationId xmlns:a16="http://schemas.microsoft.com/office/drawing/2014/main" id="{05454AED-EBAA-4E6B-D17D-C9C2F0021A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877122">
            <a:off x="7031520" y="1514522"/>
            <a:ext cx="285586" cy="285586"/>
          </a:xfrm>
          <a:prstGeom prst="rect">
            <a:avLst/>
          </a:prstGeom>
        </p:spPr>
      </p:pic>
      <p:pic>
        <p:nvPicPr>
          <p:cNvPr id="2050" name="Picture 2" descr="Create meme &quot;cat , A cat holding its head meme, screaming cats&quot; - Pictures  - Meme-arsenal.com">
            <a:extLst>
              <a:ext uri="{FF2B5EF4-FFF2-40B4-BE49-F238E27FC236}">
                <a16:creationId xmlns:a16="http://schemas.microsoft.com/office/drawing/2014/main" id="{039BDE7C-22FB-30EF-FA4B-1DF7A798C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642" y="3334739"/>
            <a:ext cx="1227340" cy="120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cs-CZ" sz="4400" b="0" u="none" strike="noStrike">
                <a:solidFill>
                  <a:srgbClr val="000000"/>
                </a:solidFill>
                <a:effectLst/>
                <a:uFillTx/>
                <a:latin typeface="Noto Sans Georgian Bold"/>
              </a:rPr>
              <a:t>Závěr</a:t>
            </a:r>
            <a:endParaRPr lang="cs-CZ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08794" y="1446079"/>
            <a:ext cx="9321206" cy="397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/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Úspěšné naplnění funkčních i estetických požadavků zadání</a:t>
            </a:r>
            <a:endParaRPr lang="en-GB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32000"/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</a:p>
          <a:p>
            <a:pPr marL="432000"/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Praktické osvojení agilního vývoje a full-</a:t>
            </a:r>
            <a:r>
              <a:rPr lang="cs-CZ" sz="2600" dirty="0" err="1">
                <a:solidFill>
                  <a:srgbClr val="000000"/>
                </a:solidFill>
                <a:latin typeface="Bahnschrift" panose="020B0502040204020203" pitchFamily="34" charset="0"/>
              </a:rPr>
              <a:t>stack</a:t>
            </a:r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 inženýrství</a:t>
            </a:r>
            <a:endParaRPr lang="en-GB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32000"/>
            <a:endParaRPr lang="cs-CZ" sz="260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32000"/>
            <a:r>
              <a:rPr lang="cs-CZ" sz="2600" dirty="0">
                <a:solidFill>
                  <a:srgbClr val="000000"/>
                </a:solidFill>
                <a:latin typeface="Bahnschrift" panose="020B0502040204020203" pitchFamily="34" charset="0"/>
              </a:rPr>
              <a:t>Budoucí rozvoj: optimalizace kódu a integrace pokročilých animací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cs-CZ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ruh: dutý 2">
            <a:extLst>
              <a:ext uri="{FF2B5EF4-FFF2-40B4-BE49-F238E27FC236}">
                <a16:creationId xmlns:a16="http://schemas.microsoft.com/office/drawing/2014/main" id="{3455FD7D-2223-8C9B-A885-C9BC3942C6E5}"/>
              </a:ext>
            </a:extLst>
          </p:cNvPr>
          <p:cNvSpPr>
            <a:spLocks noChangeAspect="1"/>
          </p:cNvSpPr>
          <p:nvPr/>
        </p:nvSpPr>
        <p:spPr>
          <a:xfrm>
            <a:off x="7830000" y="3643200"/>
            <a:ext cx="3600000" cy="3600000"/>
          </a:xfrm>
          <a:prstGeom prst="donut">
            <a:avLst/>
          </a:prstGeom>
          <a:noFill/>
          <a:ln w="63500">
            <a:gradFill>
              <a:gsLst>
                <a:gs pos="65000">
                  <a:srgbClr val="00B0F0"/>
                </a:gs>
                <a:gs pos="10000">
                  <a:srgbClr val="C00000"/>
                </a:gs>
                <a:gs pos="35000">
                  <a:srgbClr val="002060"/>
                </a:gs>
                <a:gs pos="90000">
                  <a:srgbClr val="FF0000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1C738C-0B1A-2783-7528-30F366E8B5A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rPr lang="cs-CZ" smtClean="0"/>
              <a:t>7</a:t>
            </a:fld>
            <a:endParaRPr lang="cs-CZ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ED76C16-FA91-D3AA-04E0-02F9D01F68CF}"/>
              </a:ext>
            </a:extLst>
          </p:cNvPr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  <p:pic>
        <p:nvPicPr>
          <p:cNvPr id="2" name="Obrázek 1" descr="Cute Kittens Memes GIFs | Tenor">
            <a:extLst>
              <a:ext uri="{FF2B5EF4-FFF2-40B4-BE49-F238E27FC236}">
                <a16:creationId xmlns:a16="http://schemas.microsoft.com/office/drawing/2014/main" id="{DAA4F00B-9AC4-6EFB-2740-99BFC80E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933" y="4000776"/>
            <a:ext cx="1669774" cy="16697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41E33-5884-8323-CA17-00ACD31F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cký objekt 11" descr="Srdeční masáž se souvislou výplní">
            <a:extLst>
              <a:ext uri="{FF2B5EF4-FFF2-40B4-BE49-F238E27FC236}">
                <a16:creationId xmlns:a16="http://schemas.microsoft.com/office/drawing/2014/main" id="{7F104DC8-3BFE-C95C-63A3-007E678A9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36645" y="4756150"/>
            <a:ext cx="997900" cy="914400"/>
          </a:xfrm>
          <a:prstGeom prst="rect">
            <a:avLst/>
          </a:prstGeom>
        </p:spPr>
      </p:pic>
      <p:sp>
        <p:nvSpPr>
          <p:cNvPr id="48" name="PlaceHolder 1">
            <a:extLst>
              <a:ext uri="{FF2B5EF4-FFF2-40B4-BE49-F238E27FC236}">
                <a16:creationId xmlns:a16="http://schemas.microsoft.com/office/drawing/2014/main" id="{727D18C3-14C9-E196-6E34-291D2B5C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346482"/>
            <a:ext cx="9071640" cy="609398"/>
          </a:xfrm>
          <a:prstGeom prst="rect">
            <a:avLst/>
          </a:prstGeom>
          <a:noFill/>
          <a:ln w="0">
            <a:noFill/>
          </a:ln>
          <a:effectLst>
            <a:outerShdw rotWithShape="0">
              <a:srgbClr val="333333"/>
            </a:outerShdw>
          </a:effectLst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GB" dirty="0" err="1">
                <a:solidFill>
                  <a:srgbClr val="000000"/>
                </a:solidFill>
                <a:latin typeface="Noto Sans Georgian Bold"/>
              </a:rPr>
              <a:t>Otázky</a:t>
            </a:r>
            <a:endParaRPr lang="cs-CZ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Kruh: dutý 1">
            <a:extLst>
              <a:ext uri="{FF2B5EF4-FFF2-40B4-BE49-F238E27FC236}">
                <a16:creationId xmlns:a16="http://schemas.microsoft.com/office/drawing/2014/main" id="{0DCEE9D3-C604-985C-8CF8-7E1525836C2E}"/>
              </a:ext>
            </a:extLst>
          </p:cNvPr>
          <p:cNvSpPr>
            <a:spLocks noChangeAspect="1"/>
          </p:cNvSpPr>
          <p:nvPr/>
        </p:nvSpPr>
        <p:spPr>
          <a:xfrm>
            <a:off x="7829460" y="3643200"/>
            <a:ext cx="3600000" cy="3600000"/>
          </a:xfrm>
          <a:prstGeom prst="donut">
            <a:avLst/>
          </a:prstGeom>
          <a:noFill/>
          <a:ln w="63500">
            <a:gradFill>
              <a:gsLst>
                <a:gs pos="10000">
                  <a:srgbClr val="C00000"/>
                </a:gs>
                <a:gs pos="35000">
                  <a:srgbClr val="002060"/>
                </a:gs>
                <a:gs pos="65000">
                  <a:srgbClr val="00B0F0"/>
                </a:gs>
                <a:gs pos="90000">
                  <a:srgbClr val="FF0000"/>
                </a:gs>
              </a:gsLst>
              <a:lin ang="81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2B4334A-507C-2485-C782-942D982A2647}"/>
              </a:ext>
            </a:extLst>
          </p:cNvPr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  <p:sp>
        <p:nvSpPr>
          <p:cNvPr id="4" name="Zástupný symbol pro číslo snímku 8">
            <a:extLst>
              <a:ext uri="{FF2B5EF4-FFF2-40B4-BE49-F238E27FC236}">
                <a16:creationId xmlns:a16="http://schemas.microsoft.com/office/drawing/2014/main" id="{EEDADB85-B4EE-8247-5D18-523B7314E254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</p:spPr>
        <p:txBody>
          <a:bodyPr/>
          <a:lstStyle/>
          <a:p>
            <a:fld id="{50BF791C-CDA0-4AE3-BB73-6CCACF18E1E8}" type="slidenum">
              <a:rPr lang="cs-CZ" smtClean="0"/>
              <a:t>8</a:t>
            </a:fld>
            <a:endParaRPr lang="cs-CZ" dirty="0"/>
          </a:p>
        </p:txBody>
      </p:sp>
      <p:pic>
        <p:nvPicPr>
          <p:cNvPr id="1026" name="Picture 2" descr="Pointing Gun GIFs | Tenor">
            <a:extLst>
              <a:ext uri="{FF2B5EF4-FFF2-40B4-BE49-F238E27FC236}">
                <a16:creationId xmlns:a16="http://schemas.microsoft.com/office/drawing/2014/main" id="{5959D4B4-77BC-C113-3E73-3D9A48283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570" y="2264591"/>
            <a:ext cx="17145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9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ruh: dutý 1">
            <a:extLst>
              <a:ext uri="{FF2B5EF4-FFF2-40B4-BE49-F238E27FC236}">
                <a16:creationId xmlns:a16="http://schemas.microsoft.com/office/drawing/2014/main" id="{CE313FDB-DF79-1BDB-5BEB-EC91184A97E6}"/>
              </a:ext>
            </a:extLst>
          </p:cNvPr>
          <p:cNvSpPr/>
          <p:nvPr/>
        </p:nvSpPr>
        <p:spPr>
          <a:xfrm>
            <a:off x="-2159820" y="-4364725"/>
            <a:ext cx="14400000" cy="14400000"/>
          </a:xfrm>
          <a:prstGeom prst="donut">
            <a:avLst/>
          </a:prstGeom>
          <a:gradFill>
            <a:gsLst>
              <a:gs pos="72000">
                <a:schemeClr val="accent1">
                  <a:lumMod val="5000"/>
                  <a:lumOff val="95000"/>
                </a:schemeClr>
              </a:gs>
              <a:gs pos="31000">
                <a:schemeClr val="tx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53" name="PlaceHolder 1"/>
          <p:cNvSpPr>
            <a:spLocks noGrp="1"/>
          </p:cNvSpPr>
          <p:nvPr>
            <p:ph/>
          </p:nvPr>
        </p:nvSpPr>
        <p:spPr>
          <a:xfrm>
            <a:off x="-37668" y="2279255"/>
            <a:ext cx="10155960" cy="111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lstStyle/>
          <a:p>
            <a:pPr marL="432000" indent="0" algn="ctr">
              <a:spcBef>
                <a:spcPts val="1417"/>
              </a:spcBef>
              <a:buNone/>
            </a:pPr>
            <a:r>
              <a:rPr lang="cs-CZ" sz="4000" b="0" u="none" strike="noStrike" dirty="0">
                <a:solidFill>
                  <a:srgbClr val="000000"/>
                </a:solidFill>
                <a:effectLst/>
                <a:uFillTx/>
                <a:latin typeface="Noto Sans Georgian Bold"/>
              </a:rPr>
              <a:t>Děkuji za pozornost</a:t>
            </a:r>
            <a:endParaRPr lang="cs-CZ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Grafický objekt 4" descr="Kočka se souvislou výplní">
            <a:extLst>
              <a:ext uri="{FF2B5EF4-FFF2-40B4-BE49-F238E27FC236}">
                <a16:creationId xmlns:a16="http://schemas.microsoft.com/office/drawing/2014/main" id="{77675A8D-5362-210F-CC2C-3429B1991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87680" y="4815840"/>
            <a:ext cx="914400" cy="914400"/>
          </a:xfrm>
          <a:prstGeom prst="rect">
            <a:avLst/>
          </a:prstGeom>
        </p:spPr>
      </p:pic>
      <p:pic>
        <p:nvPicPr>
          <p:cNvPr id="7" name="Grafický objekt 6" descr="Motýl se souvislou výplní">
            <a:extLst>
              <a:ext uri="{FF2B5EF4-FFF2-40B4-BE49-F238E27FC236}">
                <a16:creationId xmlns:a16="http://schemas.microsoft.com/office/drawing/2014/main" id="{96B4ACAE-412E-C7D7-8DC5-4CC18C2E36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20808">
            <a:off x="3363330" y="5112563"/>
            <a:ext cx="390601" cy="390601"/>
          </a:xfrm>
          <a:prstGeom prst="rect">
            <a:avLst/>
          </a:prstGeom>
        </p:spPr>
      </p:pic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4006F41-A112-E5DD-EFF2-A883D9DDE6A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BF791C-CDA0-4AE3-BB73-6CCACF18E1E8}" type="slidenum">
              <a:rPr lang="cs-CZ" smtClean="0"/>
              <a:t>9</a:t>
            </a:fld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9A7A9D5-1367-A7C2-99E1-8D9D7FD46D4E}"/>
              </a:ext>
            </a:extLst>
          </p:cNvPr>
          <p:cNvSpPr txBox="1"/>
          <p:nvPr/>
        </p:nvSpPr>
        <p:spPr>
          <a:xfrm>
            <a:off x="9575640" y="5119879"/>
            <a:ext cx="450540" cy="306323"/>
          </a:xfrm>
          <a:prstGeom prst="rect">
            <a:avLst/>
          </a:prstGeom>
          <a:noFill/>
          <a:ln w="0">
            <a:noFill/>
          </a:ln>
          <a:effectLst>
            <a:outerShdw blurRad="12700080" dist="50911" dir="2700000" rotWithShape="0">
              <a:srgbClr val="808080">
                <a:alpha val="50000"/>
              </a:srgbClr>
            </a:outerShdw>
          </a:effectLst>
        </p:spPr>
        <p:txBody>
          <a:bodyPr wrap="square" lIns="90000" tIns="45000" rIns="90000" bIns="45000" anchor="t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reeze">
      <a:dk1>
        <a:srgbClr val="232629"/>
      </a:dk1>
      <a:lt1>
        <a:srgbClr val="FCFCFC"/>
      </a:lt1>
      <a:dk2>
        <a:srgbClr val="31363B"/>
      </a:dk2>
      <a:lt2>
        <a:srgbClr val="EFF0F1"/>
      </a:lt2>
      <a:accent1>
        <a:srgbClr val="DA4453"/>
      </a:accent1>
      <a:accent2>
        <a:srgbClr val="F47750"/>
      </a:accent2>
      <a:accent3>
        <a:srgbClr val="FDBC4B"/>
      </a:accent3>
      <a:accent4>
        <a:srgbClr val="C9CE3B"/>
      </a:accent4>
      <a:accent5>
        <a:srgbClr val="1CDC9A"/>
      </a:accent5>
      <a:accent6>
        <a:srgbClr val="2ECC71"/>
      </a:accent6>
      <a:hlink>
        <a:srgbClr val="1D99F3"/>
      </a:hlink>
      <a:folHlink>
        <a:srgbClr val="3DAEE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CD6006EC6E7D489BD24EC91B1DF19D" ma:contentTypeVersion="13" ma:contentTypeDescription="Vytvoří nový dokument" ma:contentTypeScope="" ma:versionID="b682a991ca16db5cbdb251e4917c6c33">
  <xsd:schema xmlns:xsd="http://www.w3.org/2001/XMLSchema" xmlns:xs="http://www.w3.org/2001/XMLSchema" xmlns:p="http://schemas.microsoft.com/office/2006/metadata/properties" xmlns:ns3="dee546ea-ce56-4d98-8ae5-7ad87bd1dacb" xmlns:ns4="f226e16d-2fb8-44dd-ac50-8836f7d9f753" targetNamespace="http://schemas.microsoft.com/office/2006/metadata/properties" ma:root="true" ma:fieldsID="0e930b80e0f3e5e5db8ffeeb934157e2" ns3:_="" ns4:_="">
    <xsd:import namespace="dee546ea-ce56-4d98-8ae5-7ad87bd1dacb"/>
    <xsd:import namespace="f226e16d-2fb8-44dd-ac50-8836f7d9f7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ingHintHash" minOccurs="0"/>
                <xsd:element ref="ns4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546ea-ce56-4d98-8ae5-7ad87bd1d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6e16d-2fb8-44dd-ac50-8836f7d9f75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  <xsd:element name="SharedWithDetails" ma:index="19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e546ea-ce56-4d98-8ae5-7ad87bd1dacb" xsi:nil="true"/>
  </documentManagement>
</p:properties>
</file>

<file path=customXml/itemProps1.xml><?xml version="1.0" encoding="utf-8"?>
<ds:datastoreItem xmlns:ds="http://schemas.openxmlformats.org/officeDocument/2006/customXml" ds:itemID="{2ADA1F94-FCD7-4901-BC96-9FF566D36F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e546ea-ce56-4d98-8ae5-7ad87bd1dacb"/>
    <ds:schemaRef ds:uri="f226e16d-2fb8-44dd-ac50-8836f7d9f7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5D0DB7-B2A3-4998-8797-52B63E3018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D84C9C-D0B2-4FD0-A76C-FA4EF9CB532A}">
  <ds:schemaRefs>
    <ds:schemaRef ds:uri="http://purl.org/dc/elements/1.1/"/>
    <ds:schemaRef ds:uri="http://schemas.openxmlformats.org/package/2006/metadata/core-properties"/>
    <ds:schemaRef ds:uri="dee546ea-ce56-4d98-8ae5-7ad87bd1dacb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f226e16d-2fb8-44dd-ac50-8836f7d9f753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Eliška_Vavřichová</Template>
  <TotalTime>324</TotalTime>
  <Words>140</Words>
  <Application>Microsoft Office PowerPoint</Application>
  <PresentationFormat>Vlastní</PresentationFormat>
  <Paragraphs>49</Paragraphs>
  <Slides>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7" baseType="lpstr">
      <vt:lpstr>Arial</vt:lpstr>
      <vt:lpstr>Bahnschrift</vt:lpstr>
      <vt:lpstr>Copperplate Gothic Bold</vt:lpstr>
      <vt:lpstr>Noto Sans Georgian Bold</vt:lpstr>
      <vt:lpstr>Symbol</vt:lpstr>
      <vt:lpstr>Times New Roman</vt:lpstr>
      <vt:lpstr>Wingdings</vt:lpstr>
      <vt:lpstr>Office</vt:lpstr>
      <vt:lpstr>Planet Zero</vt:lpstr>
      <vt:lpstr>Představení</vt:lpstr>
      <vt:lpstr>Motivace</vt:lpstr>
      <vt:lpstr>Cíle</vt:lpstr>
      <vt:lpstr>Technologie</vt:lpstr>
      <vt:lpstr>Praktická ukázka</vt:lpstr>
      <vt:lpstr>Závěr</vt:lpstr>
      <vt:lpstr>Otázky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Eliška Vavřichová (3ITA)</dc:creator>
  <dc:description/>
  <cp:lastModifiedBy>Eliška Vavřichová (3ITA)</cp:lastModifiedBy>
  <cp:revision>26</cp:revision>
  <dcterms:created xsi:type="dcterms:W3CDTF">2026-01-13T19:19:38Z</dcterms:created>
  <dcterms:modified xsi:type="dcterms:W3CDTF">2026-06-28T14:58:57Z</dcterms:modified>
  <dc:language>cs-CZ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0x010100F6CD6006EC6E7D489BD24EC91B1DF19D</vt:lpwstr>
  </property>
</Properties>
</file>